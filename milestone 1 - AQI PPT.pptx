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Dynapuff Condensed" panose="020B0604020202020204" charset="0"/>
      <p:regular r:id="rId15"/>
    </p:embeddedFont>
    <p:embeddedFont>
      <p:font typeface="Dynapuff Condensed Bold" panose="020B0604020202020204" charset="0"/>
      <p:regular r:id="rId16"/>
    </p:embeddedFont>
    <p:embeddedFont>
      <p:font typeface="Dynapuff SemiCondense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E4A395-DF41-4103-8E44-E4CE2E576732}" v="4" dt="2025-12-01T09:03:42.8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0.svg"/><Relationship Id="rId7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64261" y="6677503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9" y="0"/>
                </a:lnTo>
                <a:lnTo>
                  <a:pt x="61031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184892" y="-10287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013428" y="5668421"/>
            <a:ext cx="8261144" cy="645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32"/>
              </a:lnSpc>
              <a:spcBef>
                <a:spcPct val="0"/>
              </a:spcBef>
            </a:pPr>
            <a:r>
              <a:rPr lang="en-US" sz="3554" spc="106">
                <a:solidFill>
                  <a:srgbClr val="3F3E3A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Presented by: likhitha karri</a:t>
            </a:r>
          </a:p>
        </p:txBody>
      </p:sp>
      <p:sp>
        <p:nvSpPr>
          <p:cNvPr id="5" name="Freeform 5"/>
          <p:cNvSpPr/>
          <p:nvPr/>
        </p:nvSpPr>
        <p:spPr>
          <a:xfrm>
            <a:off x="14254823" y="-4550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62000" y="7429500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4418111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256467" y="3086100"/>
            <a:ext cx="11227589" cy="249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39"/>
              </a:lnSpc>
              <a:spcBef>
                <a:spcPct val="0"/>
              </a:spcBef>
            </a:pPr>
            <a:r>
              <a:rPr lang="en-US" sz="8199" dirty="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AIRAWARE SMART AIR QUALITY PREDICTION SYSTEM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15517" y="6304504"/>
            <a:ext cx="5256967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545454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MENTOR: SHAKTHI</a:t>
            </a:r>
            <a:r>
              <a:rPr lang="en-US" sz="3200">
                <a:solidFill>
                  <a:srgbClr val="737373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 </a:t>
            </a:r>
            <a:r>
              <a:rPr lang="en-US" sz="3200">
                <a:solidFill>
                  <a:srgbClr val="545454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GOPALKRISHNAN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337292" y="-8763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07223" y="-3026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826735" y="6747939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10130" y="6114049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088210" y="1181100"/>
            <a:ext cx="13403025" cy="8367131"/>
          </a:xfrm>
          <a:custGeom>
            <a:avLst/>
            <a:gdLst/>
            <a:ahLst/>
            <a:cxnLst/>
            <a:rect l="l" t="t" r="r" b="b"/>
            <a:pathLst>
              <a:path w="13403025" h="8367131">
                <a:moveTo>
                  <a:pt x="0" y="0"/>
                </a:moveTo>
                <a:lnTo>
                  <a:pt x="13403025" y="0"/>
                </a:lnTo>
                <a:lnTo>
                  <a:pt x="13403025" y="8367131"/>
                </a:lnTo>
                <a:lnTo>
                  <a:pt x="0" y="83671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924696" y="2467693"/>
            <a:ext cx="8438608" cy="770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46076" y="3143228"/>
            <a:ext cx="10795847" cy="560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4"/>
              </a:lnSpc>
            </a:pPr>
            <a:r>
              <a:rPr lang="en-US" sz="2963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 AirAware is an intelligent dashboard designed to monitor and predict air quality across Maharashtra.</a:t>
            </a:r>
          </a:p>
          <a:p>
            <a:pPr algn="l">
              <a:lnSpc>
                <a:spcPts val="4444"/>
              </a:lnSpc>
            </a:pPr>
            <a:r>
              <a:rPr lang="en-US" sz="2963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 • It visualizes real-time AQI levels, pollutant concentrations, and historical trends using interactive charts.</a:t>
            </a:r>
          </a:p>
          <a:p>
            <a:pPr algn="l">
              <a:lnSpc>
                <a:spcPts val="4444"/>
              </a:lnSpc>
            </a:pPr>
            <a:r>
              <a:rPr lang="en-US" sz="2963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 • The system simulates machine learning predictions to estimate short-term and long-term air quality changes.</a:t>
            </a:r>
          </a:p>
          <a:p>
            <a:pPr algn="l">
              <a:lnSpc>
                <a:spcPts val="4444"/>
              </a:lnSpc>
            </a:pPr>
            <a:r>
              <a:rPr lang="en-US" sz="2963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 • It demonstrates how data analytics and ML can support environmental awareness and public health decisions.</a:t>
            </a:r>
          </a:p>
          <a:p>
            <a:pPr algn="l">
              <a:lnSpc>
                <a:spcPts val="4444"/>
              </a:lnSpc>
            </a:pPr>
            <a:r>
              <a:rPr lang="en-US" sz="2963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 • Built using modern web technologies with scope for future integration of real datasets and backend ML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175679">
            <a:off x="2580270" y="-52632"/>
            <a:ext cx="11872207" cy="9473244"/>
          </a:xfrm>
          <a:custGeom>
            <a:avLst/>
            <a:gdLst/>
            <a:ahLst/>
            <a:cxnLst/>
            <a:rect l="l" t="t" r="r" b="b"/>
            <a:pathLst>
              <a:path w="12709313" h="12127013">
                <a:moveTo>
                  <a:pt x="0" y="0"/>
                </a:moveTo>
                <a:lnTo>
                  <a:pt x="12709313" y="0"/>
                </a:lnTo>
                <a:lnTo>
                  <a:pt x="12709313" y="12127014"/>
                </a:lnTo>
                <a:lnTo>
                  <a:pt x="0" y="12127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527882" y="3465543"/>
            <a:ext cx="6556562" cy="4609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37761" lvl="1" indent="-468881" algn="l">
              <a:lnSpc>
                <a:spcPts val="6080"/>
              </a:lnSpc>
              <a:buFont typeface="Arial"/>
              <a:buChar char="•"/>
            </a:pPr>
            <a:r>
              <a:rPr lang="en-US" sz="4343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air  aware is a smart system that designed to monitor and predict air quality using data analysis &amp; machine learning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81863" y="1866900"/>
            <a:ext cx="7848600" cy="1272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45"/>
              </a:lnSpc>
              <a:spcBef>
                <a:spcPct val="0"/>
              </a:spcBef>
            </a:pPr>
            <a:r>
              <a:rPr lang="en-US" sz="7746" spc="77" dirty="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PROJECT AGENDA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02728" y="3093960"/>
            <a:ext cx="898554" cy="895287"/>
          </a:xfrm>
          <a:custGeom>
            <a:avLst/>
            <a:gdLst/>
            <a:ahLst/>
            <a:cxnLst/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961724" y="3074910"/>
            <a:ext cx="898554" cy="895287"/>
          </a:xfrm>
          <a:custGeom>
            <a:avLst/>
            <a:gdLst/>
            <a:ahLst/>
            <a:cxnLst/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86718" y="3093960"/>
            <a:ext cx="898554" cy="895287"/>
          </a:xfrm>
          <a:custGeom>
            <a:avLst/>
            <a:gdLst/>
            <a:ahLst/>
            <a:cxnLst/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V="1">
            <a:off x="5201282" y="3522554"/>
            <a:ext cx="3760442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9860278" y="3524882"/>
            <a:ext cx="3226440" cy="1672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6180962" y="1720805"/>
            <a:ext cx="5926076" cy="95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37"/>
              </a:lnSpc>
              <a:spcBef>
                <a:spcPct val="0"/>
              </a:spcBef>
            </a:pPr>
            <a:r>
              <a:rPr lang="en-US" sz="6197" b="1">
                <a:solidFill>
                  <a:srgbClr val="000000"/>
                </a:solidFill>
                <a:latin typeface="Dynapuff Condensed Bold"/>
                <a:ea typeface="Dynapuff Condensed Bold"/>
                <a:cs typeface="Dynapuff Condensed Bold"/>
                <a:sym typeface="Dynapuff Condensed Bold"/>
              </a:rPr>
              <a:t>OVERVIEW </a:t>
            </a:r>
          </a:p>
        </p:txBody>
      </p:sp>
      <p:sp>
        <p:nvSpPr>
          <p:cNvPr id="8" name="Freeform 8"/>
          <p:cNvSpPr/>
          <p:nvPr/>
        </p:nvSpPr>
        <p:spPr>
          <a:xfrm rot="1175679">
            <a:off x="9436300" y="3817003"/>
            <a:ext cx="6229856" cy="5944424"/>
          </a:xfrm>
          <a:custGeom>
            <a:avLst/>
            <a:gdLst/>
            <a:ahLst/>
            <a:cxnLst/>
            <a:rect l="l" t="t" r="r" b="b"/>
            <a:pathLst>
              <a:path w="6229856" h="5944424">
                <a:moveTo>
                  <a:pt x="0" y="0"/>
                </a:moveTo>
                <a:lnTo>
                  <a:pt x="6229856" y="0"/>
                </a:lnTo>
                <a:lnTo>
                  <a:pt x="6229856" y="5944424"/>
                </a:lnTo>
                <a:lnTo>
                  <a:pt x="0" y="59444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175679">
            <a:off x="3334679" y="4321628"/>
            <a:ext cx="5769538" cy="5505196"/>
          </a:xfrm>
          <a:custGeom>
            <a:avLst/>
            <a:gdLst/>
            <a:ahLst/>
            <a:cxnLst/>
            <a:rect l="l" t="t" r="r" b="b"/>
            <a:pathLst>
              <a:path w="5769538" h="5505196">
                <a:moveTo>
                  <a:pt x="0" y="0"/>
                </a:moveTo>
                <a:lnTo>
                  <a:pt x="5769538" y="0"/>
                </a:lnTo>
                <a:lnTo>
                  <a:pt x="5769538" y="5505196"/>
                </a:lnTo>
                <a:lnTo>
                  <a:pt x="0" y="5505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318973" y="5560438"/>
            <a:ext cx="4464510" cy="278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4"/>
              </a:lnSpc>
            </a:pPr>
            <a:r>
              <a:rPr lang="en-US" sz="2638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•The system provides real-time insights and alerts to help users take preventive measures for better health and safety.</a:t>
            </a:r>
          </a:p>
          <a:p>
            <a:pPr algn="l">
              <a:lnSpc>
                <a:spcPts val="3694"/>
              </a:lnSpc>
            </a:pPr>
            <a:endParaRPr lang="en-US" sz="2638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302728" y="5550913"/>
            <a:ext cx="3950112" cy="3279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2656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•The </a:t>
            </a:r>
            <a:r>
              <a:rPr lang="en-US" sz="2656" dirty="0" err="1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AirAware</a:t>
            </a:r>
            <a:r>
              <a:rPr lang="en-US" sz="2656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 Smart Air Quality Prediction System is designed to monitor and predict air quality using IoT sensors, AI, and cloud technology.</a:t>
            </a:r>
          </a:p>
          <a:p>
            <a:pPr algn="l">
              <a:lnSpc>
                <a:spcPts val="3719"/>
              </a:lnSpc>
            </a:pPr>
            <a:endParaRPr lang="en-US" sz="2656" dirty="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</p:txBody>
      </p:sp>
      <p:sp>
        <p:nvSpPr>
          <p:cNvPr id="12" name="Freeform 12"/>
          <p:cNvSpPr/>
          <p:nvPr/>
        </p:nvSpPr>
        <p:spPr>
          <a:xfrm flipV="1">
            <a:off x="-250222" y="-10386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44200" y="2130705"/>
            <a:ext cx="879960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00"/>
              </a:lnSpc>
            </a:pPr>
            <a:r>
              <a:rPr lang="en-US" sz="65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OBJECTIVES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444" y="2761131"/>
            <a:ext cx="4436386" cy="4436386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086531" y="3528184"/>
            <a:ext cx="6969501" cy="426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•Monitor air quality parameters (PM2.5, PM10, CO2, humidity, temperature)</a:t>
            </a: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•Predict future air quality levels using Machine Learning</a:t>
            </a: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•Provide real-time dashboards and notifications</a:t>
            </a: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•Help in decision-making for environmental management</a:t>
            </a:r>
          </a:p>
          <a:p>
            <a:pPr algn="l">
              <a:lnSpc>
                <a:spcPts val="3780"/>
              </a:lnSpc>
            </a:pPr>
            <a:endParaRPr lang="en-US" sz="27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852" y="2971816"/>
            <a:ext cx="5772893" cy="549211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610600" y="4396578"/>
            <a:ext cx="9372599" cy="3000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•The project is divided into five main layers:</a:t>
            </a:r>
          </a:p>
          <a:p>
            <a:pPr algn="just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•1. Sensor Layer – Collects air quality data</a:t>
            </a:r>
          </a:p>
          <a:p>
            <a:pPr algn="just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•2. IoT Gateway – Sends data to cloud</a:t>
            </a:r>
          </a:p>
          <a:p>
            <a:pPr algn="just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•3. Backend Layer – Handles storage and ML model</a:t>
            </a:r>
          </a:p>
          <a:p>
            <a:pPr algn="just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•4. Frontend Layer – Displays live data and alerts</a:t>
            </a:r>
          </a:p>
          <a:p>
            <a:pPr algn="just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•5. Cloud – Ensures real-time data access and scalability</a:t>
            </a:r>
          </a:p>
          <a:p>
            <a:pPr algn="just">
              <a:lnSpc>
                <a:spcPts val="2380"/>
              </a:lnSpc>
            </a:pPr>
            <a:endParaRPr lang="en-US" sz="2500" dirty="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741883" y="1689913"/>
            <a:ext cx="879960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00"/>
              </a:lnSpc>
            </a:pPr>
            <a:r>
              <a:rPr lang="en-US" sz="65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SYSTEM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337292" y="-8763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07223" y="-3026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826735" y="6747939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10130" y="6114049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95043" y="1181100"/>
            <a:ext cx="14111580" cy="8809462"/>
          </a:xfrm>
          <a:custGeom>
            <a:avLst/>
            <a:gdLst/>
            <a:ahLst/>
            <a:cxnLst/>
            <a:rect l="l" t="t" r="r" b="b"/>
            <a:pathLst>
              <a:path w="14111580" h="8809462">
                <a:moveTo>
                  <a:pt x="0" y="0"/>
                </a:moveTo>
                <a:lnTo>
                  <a:pt x="14111580" y="0"/>
                </a:lnTo>
                <a:lnTo>
                  <a:pt x="14111580" y="8809462"/>
                </a:lnTo>
                <a:lnTo>
                  <a:pt x="0" y="88094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709691" y="2381885"/>
            <a:ext cx="8868618" cy="856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5"/>
              </a:lnSpc>
              <a:spcBef>
                <a:spcPct val="0"/>
              </a:spcBef>
            </a:pPr>
            <a:r>
              <a:rPr lang="en-US" sz="65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HOW THE CODE WORKS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24213" y="3245578"/>
            <a:ext cx="9839574" cy="209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1044" lvl="1" indent="-345522" algn="just">
              <a:lnSpc>
                <a:spcPts val="412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This code handles station switching, chart updates, and AQI recalculation.</a:t>
            </a:r>
          </a:p>
          <a:p>
            <a:pPr algn="just">
              <a:lnSpc>
                <a:spcPts val="4128"/>
              </a:lnSpc>
            </a:pPr>
            <a:endParaRPr lang="en-US" sz="32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algn="just">
              <a:lnSpc>
                <a:spcPts val="4128"/>
              </a:lnSpc>
            </a:pPr>
            <a:endParaRPr lang="en-US" sz="32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224213" y="4594199"/>
            <a:ext cx="10473514" cy="427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9938" lvl="1" indent="-254969" algn="just">
              <a:lnSpc>
                <a:spcPts val="3046"/>
              </a:lnSpc>
              <a:buFont typeface="Arial"/>
              <a:buChar char="•"/>
            </a:pPr>
            <a:r>
              <a:rPr lang="en-US" sz="2361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function updateStation(key){</a:t>
            </a:r>
          </a:p>
          <a:p>
            <a:pPr marL="509938" lvl="1" indent="-254969" algn="just">
              <a:lnSpc>
                <a:spcPts val="3046"/>
              </a:lnSpc>
              <a:buFont typeface="Arial"/>
              <a:buChar char="•"/>
            </a:pPr>
            <a:r>
              <a:rPr lang="en-US" sz="2361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 const s = stations[key];</a:t>
            </a:r>
          </a:p>
          <a:p>
            <a:pPr marL="509938" lvl="1" indent="-254969" algn="just">
              <a:lnSpc>
                <a:spcPts val="3046"/>
              </a:lnSpc>
              <a:buFont typeface="Arial"/>
              <a:buChar char="•"/>
            </a:pPr>
            <a:r>
              <a:rPr lang="en-US" sz="2361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 document.getElementById('stationName').textContent = s.name;</a:t>
            </a:r>
          </a:p>
          <a:p>
            <a:pPr marL="509938" lvl="1" indent="-254969" algn="just">
              <a:lnSpc>
                <a:spcPts val="3046"/>
              </a:lnSpc>
              <a:buFont typeface="Arial"/>
              <a:buChar char="•"/>
            </a:pPr>
            <a:r>
              <a:rPr lang="en-US" sz="2361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 document.getElementById('aqNum').textContent = s.aqi;</a:t>
            </a:r>
          </a:p>
          <a:p>
            <a:pPr marL="509938" lvl="1" indent="-254969" algn="just">
              <a:lnSpc>
                <a:spcPts val="3046"/>
              </a:lnSpc>
              <a:buFont typeface="Arial"/>
              <a:buChar char="•"/>
            </a:pPr>
            <a:r>
              <a:rPr lang="en-US" sz="2361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 gauge.destroy(); </a:t>
            </a:r>
          </a:p>
          <a:p>
            <a:pPr marL="509938" lvl="1" indent="-254969" algn="just">
              <a:lnSpc>
                <a:spcPts val="3046"/>
              </a:lnSpc>
              <a:buFont typeface="Arial"/>
              <a:buChar char="•"/>
            </a:pPr>
            <a:r>
              <a:rPr lang="en-US" sz="2361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 gauge = createGauge(gaugeCtx, s.aqi);</a:t>
            </a:r>
          </a:p>
          <a:p>
            <a:pPr marL="509938" lvl="1" indent="-254969" algn="just">
              <a:lnSpc>
                <a:spcPts val="3046"/>
              </a:lnSpc>
              <a:buFont typeface="Arial"/>
              <a:buChar char="•"/>
            </a:pPr>
            <a:endParaRPr lang="en-US" sz="2361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marL="509938" lvl="1" indent="-254969" algn="just">
              <a:lnSpc>
                <a:spcPts val="3046"/>
              </a:lnSpc>
              <a:buFont typeface="Arial"/>
              <a:buChar char="•"/>
            </a:pPr>
            <a:r>
              <a:rPr lang="en-US" sz="2361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 const newHourly = hourlyData.map(x =&gt; </a:t>
            </a:r>
          </a:p>
          <a:p>
            <a:pPr marL="509938" lvl="1" indent="-254969" algn="just">
              <a:lnSpc>
                <a:spcPts val="3046"/>
              </a:lnSpc>
              <a:buFont typeface="Arial"/>
              <a:buChar char="•"/>
            </a:pPr>
            <a:r>
              <a:rPr lang="en-US" sz="2361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       Math.max(10, Math.round(x * (s.aqi/80))));</a:t>
            </a:r>
          </a:p>
          <a:p>
            <a:pPr marL="509938" lvl="1" indent="-254969" algn="just">
              <a:lnSpc>
                <a:spcPts val="3046"/>
              </a:lnSpc>
              <a:buFont typeface="Arial"/>
              <a:buChar char="•"/>
            </a:pPr>
            <a:r>
              <a:rPr lang="en-US" sz="2361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 hourlyChart.data.datasets[0].data = newHourly;</a:t>
            </a:r>
          </a:p>
          <a:p>
            <a:pPr marL="509938" lvl="1" indent="-254969" algn="just">
              <a:lnSpc>
                <a:spcPts val="3046"/>
              </a:lnSpc>
              <a:buFont typeface="Arial"/>
              <a:buChar char="•"/>
            </a:pPr>
            <a:r>
              <a:rPr lang="en-US" sz="2361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 hourlyChart.update();</a:t>
            </a:r>
          </a:p>
          <a:p>
            <a:pPr marL="16062" lvl="1" indent="-8031" algn="just">
              <a:lnSpc>
                <a:spcPts val="95"/>
              </a:lnSpc>
              <a:buFont typeface="Arial"/>
              <a:buChar char="•"/>
            </a:pPr>
            <a:endParaRPr lang="en-US" sz="2361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02728" y="3093960"/>
            <a:ext cx="898554" cy="895287"/>
          </a:xfrm>
          <a:custGeom>
            <a:avLst/>
            <a:gdLst/>
            <a:ahLst/>
            <a:cxnLst/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961724" y="3074910"/>
            <a:ext cx="898554" cy="895287"/>
          </a:xfrm>
          <a:custGeom>
            <a:avLst/>
            <a:gdLst/>
            <a:ahLst/>
            <a:cxnLst/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86718" y="3093960"/>
            <a:ext cx="898554" cy="895287"/>
          </a:xfrm>
          <a:custGeom>
            <a:avLst/>
            <a:gdLst/>
            <a:ahLst/>
            <a:cxnLst/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V="1">
            <a:off x="5201282" y="3522554"/>
            <a:ext cx="3760442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9860278" y="3524882"/>
            <a:ext cx="3226440" cy="1672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2318534" y="1944014"/>
            <a:ext cx="5926076" cy="95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37"/>
              </a:lnSpc>
              <a:spcBef>
                <a:spcPct val="0"/>
              </a:spcBef>
            </a:pPr>
            <a:r>
              <a:rPr lang="en-US" sz="6197" b="1">
                <a:solidFill>
                  <a:srgbClr val="000000"/>
                </a:solidFill>
                <a:latin typeface="Dynapuff Condensed Bold"/>
                <a:ea typeface="Dynapuff Condensed Bold"/>
                <a:cs typeface="Dynapuff Condensed Bold"/>
                <a:sym typeface="Dynapuff Condensed Bold"/>
              </a:rPr>
              <a:t>TECHNOLOGIES</a:t>
            </a:r>
          </a:p>
        </p:txBody>
      </p:sp>
      <p:sp>
        <p:nvSpPr>
          <p:cNvPr id="8" name="Freeform 8"/>
          <p:cNvSpPr/>
          <p:nvPr/>
        </p:nvSpPr>
        <p:spPr>
          <a:xfrm rot="1175679">
            <a:off x="9493785" y="3493526"/>
            <a:ext cx="7173686" cy="6180832"/>
          </a:xfrm>
          <a:custGeom>
            <a:avLst/>
            <a:gdLst/>
            <a:ahLst/>
            <a:cxnLst/>
            <a:rect l="l" t="t" r="r" b="b"/>
            <a:pathLst>
              <a:path w="7245141" h="6913192">
                <a:moveTo>
                  <a:pt x="0" y="0"/>
                </a:moveTo>
                <a:lnTo>
                  <a:pt x="7245141" y="0"/>
                </a:lnTo>
                <a:lnTo>
                  <a:pt x="7245141" y="6913193"/>
                </a:lnTo>
                <a:lnTo>
                  <a:pt x="0" y="69131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175679">
            <a:off x="2212802" y="3424217"/>
            <a:ext cx="6168146" cy="6100093"/>
          </a:xfrm>
          <a:custGeom>
            <a:avLst/>
            <a:gdLst/>
            <a:ahLst/>
            <a:cxnLst/>
            <a:rect l="l" t="t" r="r" b="b"/>
            <a:pathLst>
              <a:path w="6842243" h="6528754">
                <a:moveTo>
                  <a:pt x="0" y="0"/>
                </a:moveTo>
                <a:lnTo>
                  <a:pt x="6842243" y="0"/>
                </a:lnTo>
                <a:lnTo>
                  <a:pt x="6842243" y="6528753"/>
                </a:lnTo>
                <a:lnTo>
                  <a:pt x="0" y="65287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566681" y="4813364"/>
            <a:ext cx="5040074" cy="4206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0"/>
              </a:lnSpc>
            </a:pPr>
            <a:r>
              <a:rPr lang="en-US" sz="2978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 Random Forest</a:t>
            </a:r>
          </a:p>
          <a:p>
            <a:pPr algn="l">
              <a:lnSpc>
                <a:spcPts val="4170"/>
              </a:lnSpc>
            </a:pPr>
            <a:r>
              <a:rPr lang="en-US" sz="2978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 Gradient Boosting</a:t>
            </a:r>
          </a:p>
          <a:p>
            <a:pPr algn="l">
              <a:lnSpc>
                <a:spcPts val="4170"/>
              </a:lnSpc>
            </a:pPr>
            <a:r>
              <a:rPr lang="en-US" sz="2978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 LSTM (Deep Learning Time-Series Model)</a:t>
            </a:r>
          </a:p>
          <a:p>
            <a:pPr algn="l">
              <a:lnSpc>
                <a:spcPts val="4170"/>
              </a:lnSpc>
            </a:pPr>
            <a:r>
              <a:rPr lang="en-US" sz="2978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 Predicts AQI category: Good, Moderate, or Poor</a:t>
            </a:r>
          </a:p>
          <a:p>
            <a:pPr algn="l">
              <a:lnSpc>
                <a:spcPts val="4170"/>
              </a:lnSpc>
            </a:pPr>
            <a:endParaRPr lang="en-US" sz="2978" dirty="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algn="l">
              <a:lnSpc>
                <a:spcPts val="4170"/>
              </a:lnSpc>
            </a:pPr>
            <a:endParaRPr lang="en-US" sz="2978" dirty="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13380" y="4987883"/>
            <a:ext cx="4936385" cy="3971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 HTML5 for structure</a:t>
            </a:r>
          </a:p>
          <a:p>
            <a:pPr algn="l">
              <a:lnSpc>
                <a:spcPts val="4199"/>
              </a:lnSpc>
            </a:pPr>
            <a:r>
              <a:rPr lang="en-US" sz="2999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 CSS3 for custom UI &amp; layout</a:t>
            </a:r>
          </a:p>
          <a:p>
            <a:pPr algn="l">
              <a:lnSpc>
                <a:spcPts val="4339"/>
              </a:lnSpc>
            </a:pPr>
            <a:r>
              <a:rPr lang="en-US" sz="3099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 JavaScript (Vanilla) for logic</a:t>
            </a:r>
          </a:p>
          <a:p>
            <a:pPr algn="l">
              <a:lnSpc>
                <a:spcPts val="4199"/>
              </a:lnSpc>
            </a:pPr>
            <a:r>
              <a:rPr lang="en-US" sz="2999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 Chart.js for charts &amp; visualizations</a:t>
            </a:r>
          </a:p>
          <a:p>
            <a:pPr algn="l">
              <a:lnSpc>
                <a:spcPts val="2940"/>
              </a:lnSpc>
            </a:pPr>
            <a:endParaRPr lang="en-US" sz="2999" dirty="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</p:txBody>
      </p:sp>
      <p:sp>
        <p:nvSpPr>
          <p:cNvPr id="12" name="Freeform 12"/>
          <p:cNvSpPr/>
          <p:nvPr/>
        </p:nvSpPr>
        <p:spPr>
          <a:xfrm flipV="1">
            <a:off x="-250222" y="-10386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860278" y="2047875"/>
            <a:ext cx="5926076" cy="95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37"/>
              </a:lnSpc>
              <a:spcBef>
                <a:spcPct val="0"/>
              </a:spcBef>
            </a:pPr>
            <a:r>
              <a:rPr lang="en-US" sz="6197" b="1">
                <a:solidFill>
                  <a:srgbClr val="000000"/>
                </a:solidFill>
                <a:latin typeface="Dynapuff Condensed Bold"/>
                <a:ea typeface="Dynapuff Condensed Bold"/>
                <a:cs typeface="Dynapuff Condensed Bold"/>
                <a:sym typeface="Dynapuff Condensed Bold"/>
              </a:rPr>
              <a:t>ML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02728" y="3093960"/>
            <a:ext cx="898554" cy="895287"/>
          </a:xfrm>
          <a:custGeom>
            <a:avLst/>
            <a:gdLst/>
            <a:ahLst/>
            <a:cxnLst/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961724" y="3074910"/>
            <a:ext cx="898554" cy="895287"/>
          </a:xfrm>
          <a:custGeom>
            <a:avLst/>
            <a:gdLst/>
            <a:ahLst/>
            <a:cxnLst/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86718" y="3093960"/>
            <a:ext cx="898554" cy="895287"/>
          </a:xfrm>
          <a:custGeom>
            <a:avLst/>
            <a:gdLst/>
            <a:ahLst/>
            <a:cxnLst/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V="1">
            <a:off x="5201282" y="3522554"/>
            <a:ext cx="3760442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9860278" y="3524882"/>
            <a:ext cx="3226440" cy="1672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2588642" y="1848051"/>
            <a:ext cx="5926076" cy="95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37"/>
              </a:lnSpc>
              <a:spcBef>
                <a:spcPct val="0"/>
              </a:spcBef>
            </a:pPr>
            <a:r>
              <a:rPr lang="en-US" sz="6197" b="1">
                <a:solidFill>
                  <a:srgbClr val="000000"/>
                </a:solidFill>
                <a:latin typeface="Dynapuff Condensed Bold"/>
                <a:ea typeface="Dynapuff Condensed Bold"/>
                <a:cs typeface="Dynapuff Condensed Bold"/>
                <a:sym typeface="Dynapuff Condensed Bold"/>
              </a:rPr>
              <a:t>DATA SET</a:t>
            </a:r>
          </a:p>
        </p:txBody>
      </p:sp>
      <p:sp>
        <p:nvSpPr>
          <p:cNvPr id="8" name="Freeform 8"/>
          <p:cNvSpPr/>
          <p:nvPr/>
        </p:nvSpPr>
        <p:spPr>
          <a:xfrm rot="1175679">
            <a:off x="9579096" y="3463572"/>
            <a:ext cx="6813828" cy="6302158"/>
          </a:xfrm>
          <a:custGeom>
            <a:avLst/>
            <a:gdLst/>
            <a:ahLst/>
            <a:cxnLst/>
            <a:rect l="l" t="t" r="r" b="b"/>
            <a:pathLst>
              <a:path w="7245141" h="6913192">
                <a:moveTo>
                  <a:pt x="0" y="0"/>
                </a:moveTo>
                <a:lnTo>
                  <a:pt x="7245141" y="0"/>
                </a:lnTo>
                <a:lnTo>
                  <a:pt x="7245141" y="6913193"/>
                </a:lnTo>
                <a:lnTo>
                  <a:pt x="0" y="69131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175679">
            <a:off x="2005930" y="3218547"/>
            <a:ext cx="7471683" cy="6566005"/>
          </a:xfrm>
          <a:custGeom>
            <a:avLst/>
            <a:gdLst/>
            <a:ahLst/>
            <a:cxnLst/>
            <a:rect l="l" t="t" r="r" b="b"/>
            <a:pathLst>
              <a:path w="7527249" h="7182375">
                <a:moveTo>
                  <a:pt x="0" y="0"/>
                </a:moveTo>
                <a:lnTo>
                  <a:pt x="7527249" y="0"/>
                </a:lnTo>
                <a:lnTo>
                  <a:pt x="7527249" y="7182375"/>
                </a:lnTo>
                <a:lnTo>
                  <a:pt x="0" y="7182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336454" y="5136073"/>
            <a:ext cx="5270301" cy="400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2269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•Database used: MySQL / MongoDB</a:t>
            </a:r>
          </a:p>
          <a:p>
            <a:pPr algn="l">
              <a:lnSpc>
                <a:spcPts val="3177"/>
              </a:lnSpc>
            </a:pPr>
            <a:r>
              <a:rPr lang="en-US" sz="2269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•Stores sensor data, prediction results, and user information</a:t>
            </a:r>
          </a:p>
          <a:p>
            <a:pPr algn="l">
              <a:lnSpc>
                <a:spcPts val="3177"/>
              </a:lnSpc>
            </a:pPr>
            <a:r>
              <a:rPr lang="en-US" sz="2269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•Key tables:</a:t>
            </a:r>
          </a:p>
          <a:p>
            <a:pPr algn="l">
              <a:lnSpc>
                <a:spcPts val="3177"/>
              </a:lnSpc>
            </a:pPr>
            <a:r>
              <a:rPr lang="en-US" sz="2269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 - Sensor_Data (PM2.5, CO2, Temp, Timestamp)</a:t>
            </a:r>
          </a:p>
          <a:p>
            <a:pPr algn="l">
              <a:lnSpc>
                <a:spcPts val="3177"/>
              </a:lnSpc>
            </a:pPr>
            <a:r>
              <a:rPr lang="en-US" sz="2269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  - Predictions (AQI, Category, Confidence)</a:t>
            </a:r>
          </a:p>
          <a:p>
            <a:pPr algn="l">
              <a:lnSpc>
                <a:spcPts val="3177"/>
              </a:lnSpc>
            </a:pPr>
            <a:r>
              <a:rPr lang="en-US" sz="2269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  - Alerts (Alert_ID, Type, Time)</a:t>
            </a:r>
          </a:p>
          <a:p>
            <a:pPr algn="l">
              <a:lnSpc>
                <a:spcPts val="3177"/>
              </a:lnSpc>
            </a:pPr>
            <a:endParaRPr lang="en-US" sz="2269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762606" y="5309538"/>
            <a:ext cx="6199118" cy="3657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334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•Dataset: Air quality data collected from open sources like UCI Machine Learning Repository or Kaggle</a:t>
            </a:r>
          </a:p>
          <a:p>
            <a:pPr algn="l">
              <a:lnSpc>
                <a:spcPts val="3268"/>
              </a:lnSpc>
            </a:pPr>
            <a:r>
              <a:rPr lang="en-US" sz="2334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•Features include PM2.5, PM10, CO2, humidity, temperature, and weather conditions</a:t>
            </a:r>
          </a:p>
          <a:p>
            <a:pPr algn="l">
              <a:lnSpc>
                <a:spcPts val="3268"/>
              </a:lnSpc>
            </a:pPr>
            <a:r>
              <a:rPr lang="en-US" sz="2334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•Data is used to train and test the ML model</a:t>
            </a:r>
          </a:p>
          <a:p>
            <a:pPr algn="l">
              <a:lnSpc>
                <a:spcPts val="3268"/>
              </a:lnSpc>
            </a:pPr>
            <a:r>
              <a:rPr lang="en-US" sz="2334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•Example: Air Quality Dataset (Beijing, 2018–2020)</a:t>
            </a:r>
          </a:p>
          <a:p>
            <a:pPr algn="l">
              <a:lnSpc>
                <a:spcPts val="3268"/>
              </a:lnSpc>
            </a:pPr>
            <a:endParaRPr lang="en-US" sz="2334" dirty="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</p:txBody>
      </p:sp>
      <p:sp>
        <p:nvSpPr>
          <p:cNvPr id="12" name="Freeform 12"/>
          <p:cNvSpPr/>
          <p:nvPr/>
        </p:nvSpPr>
        <p:spPr>
          <a:xfrm flipV="1">
            <a:off x="-250222" y="-10386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008567" y="2022153"/>
            <a:ext cx="5926076" cy="95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37"/>
              </a:lnSpc>
              <a:spcBef>
                <a:spcPct val="0"/>
              </a:spcBef>
            </a:pPr>
            <a:r>
              <a:rPr lang="en-US" sz="6197" b="1">
                <a:solidFill>
                  <a:srgbClr val="000000"/>
                </a:solidFill>
                <a:latin typeface="Dynapuff Condensed Bold"/>
                <a:ea typeface="Dynapuff Condensed Bold"/>
                <a:cs typeface="Dynapuff Condensed Bold"/>
                <a:sym typeface="Dynapuff Condensed Bold"/>
              </a:rPr>
              <a:t>DATABASE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02728" y="3093960"/>
            <a:ext cx="898554" cy="895287"/>
          </a:xfrm>
          <a:custGeom>
            <a:avLst/>
            <a:gdLst/>
            <a:ahLst/>
            <a:cxnLst/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961724" y="3074910"/>
            <a:ext cx="898554" cy="895287"/>
          </a:xfrm>
          <a:custGeom>
            <a:avLst/>
            <a:gdLst/>
            <a:ahLst/>
            <a:cxnLst/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86718" y="3093960"/>
            <a:ext cx="898554" cy="895287"/>
          </a:xfrm>
          <a:custGeom>
            <a:avLst/>
            <a:gdLst/>
            <a:ahLst/>
            <a:cxnLst/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V="1">
            <a:off x="5201282" y="3522554"/>
            <a:ext cx="3760442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9860278" y="3524882"/>
            <a:ext cx="3226440" cy="1672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2238244" y="1944014"/>
            <a:ext cx="5926076" cy="95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37"/>
              </a:lnSpc>
              <a:spcBef>
                <a:spcPct val="0"/>
              </a:spcBef>
            </a:pPr>
            <a:r>
              <a:rPr lang="en-US" sz="6197" b="1">
                <a:solidFill>
                  <a:srgbClr val="000000"/>
                </a:solidFill>
                <a:latin typeface="Dynapuff Condensed Bold"/>
                <a:ea typeface="Dynapuff Condensed Bold"/>
                <a:cs typeface="Dynapuff Condensed Bold"/>
                <a:sym typeface="Dynapuff Condensed Bold"/>
              </a:rPr>
              <a:t>FRONTEND</a:t>
            </a:r>
          </a:p>
        </p:txBody>
      </p:sp>
      <p:sp>
        <p:nvSpPr>
          <p:cNvPr id="8" name="Freeform 8"/>
          <p:cNvSpPr/>
          <p:nvPr/>
        </p:nvSpPr>
        <p:spPr>
          <a:xfrm rot="1175679">
            <a:off x="9616816" y="3479914"/>
            <a:ext cx="7336763" cy="6182067"/>
          </a:xfrm>
          <a:custGeom>
            <a:avLst/>
            <a:gdLst/>
            <a:ahLst/>
            <a:cxnLst/>
            <a:rect l="l" t="t" r="r" b="b"/>
            <a:pathLst>
              <a:path w="7245141" h="6913192">
                <a:moveTo>
                  <a:pt x="0" y="0"/>
                </a:moveTo>
                <a:lnTo>
                  <a:pt x="7245141" y="0"/>
                </a:lnTo>
                <a:lnTo>
                  <a:pt x="7245141" y="6913193"/>
                </a:lnTo>
                <a:lnTo>
                  <a:pt x="0" y="69131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Freeform 9"/>
          <p:cNvSpPr/>
          <p:nvPr/>
        </p:nvSpPr>
        <p:spPr>
          <a:xfrm rot="1175679">
            <a:off x="2121357" y="3274103"/>
            <a:ext cx="6786828" cy="6676543"/>
          </a:xfrm>
          <a:custGeom>
            <a:avLst/>
            <a:gdLst/>
            <a:ahLst/>
            <a:cxnLst/>
            <a:rect l="l" t="t" r="r" b="b"/>
            <a:pathLst>
              <a:path w="7527249" h="7182375">
                <a:moveTo>
                  <a:pt x="0" y="0"/>
                </a:moveTo>
                <a:lnTo>
                  <a:pt x="7527249" y="0"/>
                </a:lnTo>
                <a:lnTo>
                  <a:pt x="7527249" y="7182375"/>
                </a:lnTo>
                <a:lnTo>
                  <a:pt x="0" y="7182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779346" y="5008121"/>
            <a:ext cx="5634527" cy="3848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6"/>
              </a:lnSpc>
            </a:pPr>
            <a:r>
              <a:rPr lang="en-US" sz="2426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•Developed using HTML, CSS, JavaScript (or React.js)</a:t>
            </a:r>
          </a:p>
          <a:p>
            <a:pPr algn="l">
              <a:lnSpc>
                <a:spcPts val="3396"/>
              </a:lnSpc>
            </a:pPr>
            <a:r>
              <a:rPr lang="en-US" sz="2426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•Displays real-time AQI values and trend graphs</a:t>
            </a:r>
          </a:p>
          <a:p>
            <a:pPr algn="l">
              <a:lnSpc>
                <a:spcPts val="3396"/>
              </a:lnSpc>
            </a:pPr>
            <a:r>
              <a:rPr lang="en-US" sz="2426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•Includes a user-friendly dashboard with color-coded AQI indicators</a:t>
            </a:r>
          </a:p>
          <a:p>
            <a:pPr algn="l">
              <a:lnSpc>
                <a:spcPts val="3396"/>
              </a:lnSpc>
            </a:pPr>
            <a:r>
              <a:rPr lang="en-US" sz="2426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•Provides alerts and reports on air quality conditions</a:t>
            </a:r>
          </a:p>
          <a:p>
            <a:pPr algn="l">
              <a:lnSpc>
                <a:spcPts val="3396"/>
              </a:lnSpc>
            </a:pPr>
            <a:endParaRPr lang="en-US" sz="2426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459518" y="5524500"/>
            <a:ext cx="5926076" cy="3357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334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•Backend built using Python (Flask/Django)</a:t>
            </a:r>
          </a:p>
          <a:p>
            <a:pPr algn="l">
              <a:lnSpc>
                <a:spcPts val="3268"/>
              </a:lnSpc>
            </a:pPr>
            <a:r>
              <a:rPr lang="en-US" sz="2334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•Handles data processing, ML model integration, and APIs</a:t>
            </a:r>
          </a:p>
          <a:p>
            <a:pPr algn="l">
              <a:lnSpc>
                <a:spcPts val="3268"/>
              </a:lnSpc>
            </a:pPr>
            <a:r>
              <a:rPr lang="en-US" sz="2334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•Connects with cloud storage and database for real-time updates</a:t>
            </a:r>
          </a:p>
          <a:p>
            <a:pPr algn="l">
              <a:lnSpc>
                <a:spcPts val="3268"/>
              </a:lnSpc>
            </a:pPr>
            <a:r>
              <a:rPr lang="en-US" sz="2334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•Provides RESTful APIs for the frontend dashboard</a:t>
            </a:r>
          </a:p>
          <a:p>
            <a:pPr algn="l">
              <a:lnSpc>
                <a:spcPts val="3268"/>
              </a:lnSpc>
            </a:pPr>
            <a:endParaRPr lang="en-US" sz="2334" dirty="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</p:txBody>
      </p:sp>
      <p:sp>
        <p:nvSpPr>
          <p:cNvPr id="12" name="Freeform 12"/>
          <p:cNvSpPr/>
          <p:nvPr/>
        </p:nvSpPr>
        <p:spPr>
          <a:xfrm flipV="1">
            <a:off x="-250222" y="-10386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411001" y="2047875"/>
            <a:ext cx="5926076" cy="95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37"/>
              </a:lnSpc>
              <a:spcBef>
                <a:spcPct val="0"/>
              </a:spcBef>
            </a:pPr>
            <a:r>
              <a:rPr lang="en-US" sz="6197" b="1">
                <a:solidFill>
                  <a:srgbClr val="000000"/>
                </a:solidFill>
                <a:latin typeface="Dynapuff Condensed Bold"/>
                <a:ea typeface="Dynapuff Condensed Bold"/>
                <a:cs typeface="Dynapuff Condensed Bold"/>
                <a:sym typeface="Dynapuff Condensed Bold"/>
              </a:rPr>
              <a:t>BACKEND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85180" y="448838"/>
            <a:ext cx="14111580" cy="8809462"/>
          </a:xfrm>
          <a:custGeom>
            <a:avLst/>
            <a:gdLst/>
            <a:ahLst/>
            <a:cxnLst/>
            <a:rect l="l" t="t" r="r" b="b"/>
            <a:pathLst>
              <a:path w="14111580" h="8809462">
                <a:moveTo>
                  <a:pt x="0" y="0"/>
                </a:moveTo>
                <a:lnTo>
                  <a:pt x="14111580" y="0"/>
                </a:lnTo>
                <a:lnTo>
                  <a:pt x="14111580" y="8809462"/>
                </a:lnTo>
                <a:lnTo>
                  <a:pt x="0" y="88094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377633" y="3954515"/>
            <a:ext cx="11117866" cy="308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•Connect real APIs for live data</a:t>
            </a:r>
          </a:p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•Build backend (Python </a:t>
            </a:r>
            <a:r>
              <a:rPr lang="en-US" sz="3500" dirty="0" err="1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FastAPI</a:t>
            </a:r>
            <a:r>
              <a:rPr lang="en-US" sz="3500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 + ML Models)</a:t>
            </a:r>
          </a:p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•Deploy on cloud (AWS / GCP / Render)</a:t>
            </a:r>
          </a:p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•Add alerts, AQI heatmaps, forecasting dashboard</a:t>
            </a:r>
          </a:p>
          <a:p>
            <a:pPr algn="just">
              <a:lnSpc>
                <a:spcPts val="4900"/>
              </a:lnSpc>
            </a:pPr>
            <a:endParaRPr lang="en-US" sz="3500" dirty="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468828" y="2446930"/>
            <a:ext cx="7350343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80"/>
              </a:lnSpc>
              <a:spcBef>
                <a:spcPct val="0"/>
              </a:spcBef>
            </a:pPr>
            <a:r>
              <a:rPr lang="en-US" sz="64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FUTURE ENHANCEMENTS</a:t>
            </a:r>
          </a:p>
        </p:txBody>
      </p:sp>
      <p:sp>
        <p:nvSpPr>
          <p:cNvPr id="5" name="Freeform 5"/>
          <p:cNvSpPr/>
          <p:nvPr/>
        </p:nvSpPr>
        <p:spPr>
          <a:xfrm flipH="1" flipV="1">
            <a:off x="12337292" y="-8763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407223" y="-3026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826735" y="6747939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10130" y="6114049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76662" y="2107719"/>
            <a:ext cx="8934676" cy="1102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526"/>
              </a:lnSpc>
            </a:pPr>
            <a:r>
              <a:rPr lang="en-US" sz="7681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34420" y="4019550"/>
            <a:ext cx="15524880" cy="2838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0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•The AirAware Smart Air Quality Prediction System integrates fast API, python, and Machine Learning to create a complete solution for air pollution monitoring.</a:t>
            </a:r>
          </a:p>
          <a:p>
            <a:pPr algn="ctr">
              <a:lnSpc>
                <a:spcPts val="4500"/>
              </a:lnSpc>
            </a:pPr>
            <a:r>
              <a:rPr lang="en-US" sz="30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•It helps users make data-driven decisions, promotes environmental awareness, and contributes to healthier living conditions.</a:t>
            </a:r>
          </a:p>
          <a:p>
            <a:pPr algn="ctr">
              <a:lnSpc>
                <a:spcPts val="4500"/>
              </a:lnSpc>
            </a:pPr>
            <a:endParaRPr lang="en-US" sz="30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73816" y="3975664"/>
            <a:ext cx="8688208" cy="3601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373"/>
              </a:lnSpc>
            </a:pPr>
            <a:r>
              <a:rPr lang="en-US" sz="16716" spc="501" dirty="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-664261" y="6677503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9" y="0"/>
                </a:lnTo>
                <a:lnTo>
                  <a:pt x="61031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184892" y="-10287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254823" y="-4550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2605" y="6043612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4173200" y="628709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737</Words>
  <Application>Microsoft Office PowerPoint</Application>
  <PresentationFormat>Custom</PresentationFormat>
  <Paragraphs>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Dynapuff SemiCondensed</vt:lpstr>
      <vt:lpstr>Dynapuff Condensed Bold</vt:lpstr>
      <vt:lpstr>Calibri</vt:lpstr>
      <vt:lpstr>Dynapuff Condensed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Cream and  Dark Brown Aesthetic Abstract Corner Project Presentation</dc:title>
  <dc:creator>Likitha Karri</dc:creator>
  <cp:lastModifiedBy>Likitha Karri</cp:lastModifiedBy>
  <cp:revision>4</cp:revision>
  <dcterms:created xsi:type="dcterms:W3CDTF">2006-08-16T00:00:00Z</dcterms:created>
  <dcterms:modified xsi:type="dcterms:W3CDTF">2025-12-01T10:55:13Z</dcterms:modified>
  <dc:identifier>DAG5Ooy3NC8</dc:identifier>
</cp:coreProperties>
</file>